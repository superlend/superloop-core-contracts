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7AFF"/>
                </a:solidFill>
                <a:latin typeface="Calibri"/>
              </a:defRPr>
            </a:pPr>
            <a:r>
              <a:t>SUPERLOOP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Institutional RWA Looping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8"/>
                </a:solidFill>
                <a:latin typeface="Calibri"/>
              </a:defRPr>
            </a:pPr>
            <a:r>
              <a:t>Automated Leveraged Yield Vaults for Tokenized Real-World Assets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3657600" cy="2743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Built on Aave V3 | Aave Horizon | Centrifuge | Morpho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ERC-4626 Compliant | Modular Architecture | Flash-Loan Optimized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606068"/>
                </a:solidFill>
                <a:latin typeface="Calibri"/>
              </a:defRPr>
            </a:pPr>
            <a:r>
              <a:t>February 2026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8"/>
                </a:solidFill>
                <a:latin typeface="Calibri"/>
              </a:defRPr>
            </a:pPr>
            <a:r>
              <a:t>Tokenized RWAs are on-chain, but unlocking their full yield potential is manual, fragmented, and inaccessible.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200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Manual Looping is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Institutions need 30+ transactions to loop RWA positions for leveraged yield. Each loop requires: swap, supply, borrow, repeat. Error-prone, gas-intensive, time-consuming.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3200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Fragmented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RWA tokens, lending markets, oracles, and compliance layers each live in separate protocols. No unified system to compose them into managed vault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291840" cy="3200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Compliance Barriers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688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RWA tokens carry transfer restrictions (ERC-1404, ERC-3643). Vaults must be KYC-whitelisted by each issuer. No plug-and-play compliance framework exists for DeFi vaults.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Result: $35B+ in tokenized RWAs sit under-utilized. Institutions earn base yield (~4-5%) when they could earn 9-13% with automated leveraged strategies.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THE SOLUTION: SUPERLOOP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8"/>
                </a:solidFill>
                <a:latin typeface="Calibri"/>
              </a:defRPr>
            </a:pPr>
            <a:r>
              <a:t>The institutional vault infrastructure layer for automated, compliant, leveraged RWA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One-Click Looping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Flash-loan powered single-transaction looping. Deposit stablecoins, vault auto-loops to target leverage. No manual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02920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Modular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40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Plug-and-play modules for Aave Horizon, Centrifuge, Morpho, DEX swaps. Add new protocols without rewriting core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02920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Built-In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KYC gating at vault entry. Transfer-restricted shares. Compatible with ERC-1404, ERC-3643, and Chainlink 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566160"/>
            <a:ext cx="502920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ERC-4626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60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8"/>
                </a:solidFill>
                <a:latin typeface="Calibri"/>
              </a:defRPr>
            </a:pPr>
            <a:r>
              <a:t>Fully composable tokenized vault. Async deposit/withdraw queues. Performance fee via share dilution. Institutional-grade accounting.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Tokenized RWAs On-Chain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$35B+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Growing 300%+ YoY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188720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19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Aave Horizon TVL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19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Reached Feb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188720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Morpho Looping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Of total $3B loans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BlackRock BUIDL AUM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$2.3B+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Largest tokenized 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Trend: RWA issuers (Superstate, Centrifuge, BlackRock/Securitize, VanEck) are deploying tokens, but lack DeFi-native yield infrastructure.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RWA Issuers: Superstate (USTB, USCC) | Centrifuge (JTRSY, JAAA) | Securitize (BUIDL) | VanEck (VBILL) | Hashnote (USYC)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Lending Markets: Aave Horizon ($1B) | Morpho ($3B) | Spark ($3.5B)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Stablecoin Borrowing: USDC (Circle) | GHO (Aave DAO) | RLUSD (Ripple)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Infrastructure: Chainlink (NAVLink + ACE) | Chaos Labs (Risk Oracles) | LlamaRisk (Due Diligence)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8"/>
                </a:solidFill>
                <a:latin typeface="Calibri"/>
              </a:defRPr>
            </a:pPr>
            <a:r>
              <a:t>From User Deposit to Leveraged RWA Yield in One Transaction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69164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Calibri"/>
              </a:defRPr>
            </a:pPr>
            <a:r>
              <a:t>DEPOSIT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8"/>
                </a:solidFill>
                <a:latin typeface="Calibri"/>
              </a:defRPr>
            </a:pPr>
            <a:r>
              <a:t>User deposits USDC</a:t>
            </a:r>
            <a:br/>
            <a:r>
              <a:t>into Superloop Vault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3017520"/>
            <a:ext cx="182880" cy="22860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34640" y="1645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286000"/>
            <a:ext cx="169164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377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Calibri"/>
              </a:defRPr>
            </a:pPr>
            <a:r>
              <a:t>ACQUIRE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889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8"/>
                </a:solidFill>
                <a:latin typeface="Calibri"/>
              </a:defRPr>
            </a:pPr>
            <a:r>
              <a:t>Vault swaps USDC for</a:t>
            </a:r>
            <a:br/>
            <a:r>
              <a:t>RWA token (e.g. USTB)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3017520"/>
            <a:ext cx="182880" cy="22860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60" y="1645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286000"/>
            <a:ext cx="169164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377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Calibri"/>
              </a:defRPr>
            </a:pPr>
            <a:r>
              <a:t>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8"/>
                </a:solidFill>
                <a:latin typeface="Calibri"/>
              </a:defRPr>
            </a:pPr>
            <a:r>
              <a:t>Supply RWA token as</a:t>
            </a:r>
            <a:br/>
            <a:r>
              <a:t>collateral on Horizon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43600" y="3017520"/>
            <a:ext cx="182880" cy="22860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79" y="1645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286000"/>
            <a:ext cx="169164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2377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Calibri"/>
              </a:defRPr>
            </a:pPr>
            <a:r>
              <a:t>BORROW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7889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8"/>
                </a:solidFill>
                <a:latin typeface="Calibri"/>
              </a:defRPr>
            </a:pPr>
            <a:r>
              <a:t>Borrow USDC against</a:t>
            </a:r>
            <a:br/>
            <a:r>
              <a:t>RWA collateral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18119" y="3017520"/>
            <a:ext cx="182880" cy="22860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58199" y="1645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286000"/>
            <a:ext cx="169164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2377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Calibri"/>
              </a:defRPr>
            </a:pPr>
            <a:r>
              <a:t>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7889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8"/>
                </a:solidFill>
                <a:latin typeface="Calibri"/>
              </a:defRPr>
            </a:pPr>
            <a:r>
              <a:t>Repeat steps 2-4</a:t>
            </a:r>
            <a:br/>
            <a:r>
              <a:t>using flash loans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92639" y="3017520"/>
            <a:ext cx="182880" cy="228600"/>
          </a:xfrm>
          <a:prstGeom prst="rightArrow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645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2286000"/>
            <a:ext cx="169164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606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77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Calibri"/>
              </a:defRPr>
            </a:pPr>
            <a:r>
              <a:t>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7889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8"/>
                </a:solidFill>
                <a:latin typeface="Calibri"/>
              </a:defRPr>
            </a:pPr>
            <a:r>
              <a:t>Vault earns leveraged</a:t>
            </a:r>
            <a:br/>
            <a:r>
              <a:t>spread (9-13% APR)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entire loop executes atomically in a single transaction using flash loans.</a:t>
            </a:r>
            <a:br/>
            <a:r>
              <a:t>No manual intervention. No multi-step risk. Gas efficient.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YIELD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Leveraged APR = L x Y - (L-1) x R      where L = leverage, Y = RWA yield, R = borrow rate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Leverage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5% Yield / 3% Borrow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5% Yield / 2% Borrow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8% Yield / 3% Borrow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1x (base)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2x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7.0%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3x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4x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14.0%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5x (max)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1">
                <a:solidFill>
                  <a:srgbClr val="00C28E"/>
                </a:solidFill>
                <a:latin typeface="Calibri"/>
              </a:defRPr>
            </a:pPr>
            <a:r>
              <a:t>  Conservative target: 3x leverage on Treasury collateral = 9-11% APR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Flash loan source: Morpho (0% fee) or Balancer (0% fee) to maximize thin RWA spreads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Revenue model: 10-20% performance fee + 0.5-2% management fee on AUM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8229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USER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ERC-4626 Vault | Async Deposit Queue | Withdraw Manager | Share Accounting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515600" cy="8229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28E"/>
                </a:solidFill>
                <a:latin typeface="Calibri"/>
              </a:defRPr>
            </a:pPr>
            <a:r>
              <a:t>STRATEGY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VaultOperator calls operate() with ModuleExecutionData[] | Flash Loan Wrapping | Callback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515600" cy="8229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MODULE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AaveV3Supply | AaveV3Borrow | AaveV3Flashloan | MorphoFlashloan | UniversalDex | VaultSupply | Emode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515600" cy="8229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E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60FF"/>
                </a:solidFill>
                <a:latin typeface="Calibri"/>
              </a:defRPr>
            </a:pPr>
            <a:r>
              <a:t>ACCOUNTING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AaveV3AccountantPlugin | NAV Oracle Integration | Performance Fee Calculation | Position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515600" cy="8229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60"/>
                </a:solidFill>
                <a:latin typeface="Calibri"/>
              </a:defRPr>
            </a:pPr>
            <a:r>
              <a:t>PROTOCOL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Aave Horizon | Aave V3 | Morpho | Centrifuge | Chainlink NAVLink | DEX Aggregators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insight: Each module is a standalone contract. Adding Horizon = deploying existing AaveV3 modules with a new PoolAddressesProvider. Zero code changes.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WHAT'S ALREADY BUILT (VERIFIED)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AaveV3SupplyModule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pool.supply(asset, amount, address(this),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AaveV3BorrowModule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pool.borrow(asset, amount, INTEREST_RATE_MODE, 0, address(this))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AaveV3FlashloanModule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pool.flashLoanSimple() with callback execution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AaveV3RepayModule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Repay borrowed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AaveV3WithdrawModule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Withdraw supplied collateral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AaveV3EmodeModule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82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Set efficiency mode for correlated 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MorphoFlashloanModule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morpho.flashLoan() - zero fee flash loans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UniversalDexModule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Multi-DEX swap execution (1inch, Uniswap, etc.)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AaveV3AccountantPlugin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Tracks lend + borrow positions via getUserReserveData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SuperloopVault (ERC-4626)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24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Deposit, withdraw, share accounting, performance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DepositManager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410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Async deposit queue with request/resolve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WithdrawManager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96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Multi-queue: Instant, Priority, Deferred, General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Callback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82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Flash loan callbacks route through operateSelf()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28E"/>
                </a:solidFill>
                <a:latin typeface="Calibri"/>
              </a:defRPr>
            </a:pPr>
            <a:r>
              <a:t>ModuleRegistry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468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Whitelist-based module registration and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515600" cy="502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6080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Calibri"/>
              </a:defRPr>
            </a:pPr>
            <a:r>
              <a:t>All AaveV3 modules take poolAddressesProvider in constructor. Horizon integration = new deployments with Horizon provider address. ZERO code changes needed.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AAVE HORIZON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8"/>
                </a:solidFill>
                <a:latin typeface="Calibri"/>
              </a:defRPr>
            </a:pPr>
            <a:r>
              <a:t>Horizon = Aave V3.3 fork for permissioned RWA lending. $1B TVL. Same interface, different PoolAddressesProvider.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84632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PERMISSIONED SIDE (Collateral)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USTB - Superstate US Treasuries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JTRSY - Centrifuge / Janus Henderson Treasuries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JAAA - Centrifuge AAA CLOs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USYC - Hashnote / Circle Yield Fund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VBILL - VanEck Treasury Fund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KYC required per issuer whitelist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aTokens are NON-TRANSFERABLE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484632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28E"/>
                </a:solidFill>
                <a:latin typeface="Calibri"/>
              </a:defRPr>
            </a:pPr>
            <a:r>
              <a:t>PERMISSIONLESS SIDE (Lending)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USDC - Circle (primary liquidity)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GHO - Aave DAO stablecoin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RLUSD - Ripple institutional stablecoin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Anyone can supply stablecoins to earn yield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Yield comes from institutional borrowers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No KYC needed for stablecoin supply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Stablecoins CANNOT be used as collateral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51560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SUPERLOOP VAULT FLOW ON HORIZON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1. Deploy AaveV3SupplyModule(HORIZON_POOL_ADDRESSES_PROVIDER)</a:t>
            </a:r>
            <a:br/>
            <a:r>
              <a:t>2. Deploy AaveV3BorrowModule(HORIZON_POOL_ADDRESSES_PROVIDER)</a:t>
            </a:r>
            <a:br/>
            <a:r>
              <a:t>3. Vault address gets KYC-whitelisted by RWA issuer (e.g., Superstate for USTB)</a:t>
            </a:r>
            <a:br/>
            <a:r>
              <a:t>4. Operator calls operate(): FlashLoan USDC -&gt; Swap to USTB -&gt; Supply USTB to Horizon -&gt; Borrow USDC -&gt; Repay flash loan</a:t>
            </a:r>
            <a:br/>
            <a:r>
              <a:t>5. AaveV3AccountantPlugin tracks position: lend (USTB aTokens) - borrow (USDC debt) = net vault value</a:t>
            </a:r>
            <a:br/>
            <a:r>
              <a:t>6. Vault share price reflects leveraged Treasury yield (9-13% target APR)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CENTRIFUGE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8"/>
                </a:solidFill>
                <a:latin typeface="Calibri"/>
              </a:defRPr>
            </a:pPr>
            <a:r>
              <a:t>Access tokenized structured credit: AAA CLOs, US Treasuries, diversified credit. ERC-7540 async vault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Calibri"/>
              </a:defRPr>
            </a:pPr>
            <a:r>
              <a:t>JTRSY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Janus Henderson</a:t>
            </a:r>
            <a:br/>
            <a:r>
              <a:t>US Treasury</a:t>
            </a:r>
            <a:br/>
            <a:r>
              <a:t>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202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28E"/>
                </a:solidFill>
                <a:latin typeface="Calibri"/>
              </a:defRPr>
            </a:pPr>
            <a:r>
              <a:t>~4.5-5% APR</a:t>
            </a:r>
            <a:br/>
            <a:r>
              <a:t>Senior tranche</a:t>
            </a:r>
            <a:br/>
            <a:r>
              <a:t>AAA-equivalent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Calibri"/>
              </a:defRPr>
            </a:pPr>
            <a:r>
              <a:t>JAAA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Janus Henderson</a:t>
            </a:r>
            <a:br/>
            <a:r>
              <a:t>AAA CLOs</a:t>
            </a:r>
            <a:br/>
            <a:r>
              <a:t>(loan obligations)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202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28E"/>
                </a:solidFill>
                <a:latin typeface="Calibri"/>
              </a:defRPr>
            </a:pPr>
            <a:r>
              <a:t>~5-7% APR</a:t>
            </a:r>
            <a:br/>
            <a:r>
              <a:t>First-claim priority</a:t>
            </a:r>
            <a:br/>
            <a:r>
              <a:t>$1B+ allocated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Calibri"/>
              </a:defRPr>
            </a:pPr>
            <a:r>
              <a:t>ACRDX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Apollo</a:t>
            </a:r>
            <a:br/>
            <a:r>
              <a:t>Diversified Credit</a:t>
            </a:r>
            <a:br/>
            <a:r>
              <a:t>(via Grove)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9202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28E"/>
                </a:solidFill>
                <a:latin typeface="Calibri"/>
              </a:defRPr>
            </a:pPr>
            <a:r>
              <a:t>~7-10% APR</a:t>
            </a:r>
            <a:br/>
            <a:r>
              <a:t>Institutional credit</a:t>
            </a:r>
            <a:br/>
            <a:r>
              <a:t>Private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NEW MODULE REQUIRED: CentrifugeSupplyModule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A0A0A8"/>
                </a:solidFill>
                <a:latin typeface="Calibri"/>
              </a:defRPr>
            </a:pPr>
            <a:r>
              <a:t>  ERC-7540 Async Flow: requestDeposit() -&gt; wait for epoch (24h) -&gt; claimDeposit() -&gt; receive tranche tokens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A0A0A8"/>
                </a:solidFill>
                <a:latin typeface="Calibri"/>
              </a:defRPr>
            </a:pPr>
            <a:r>
              <a:t>  Maps to Superloop's existing DepositManager/WithdrawManager async pattern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A0A0A8"/>
                </a:solidFill>
                <a:latin typeface="Calibri"/>
              </a:defRPr>
            </a:pPr>
            <a:r>
              <a:t>  Tranche tokens can then be supplied to Aave Horizon as collateral for leveraged yield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A0A0A8"/>
                </a:solidFill>
                <a:latin typeface="Calibri"/>
              </a:defRPr>
            </a:pPr>
            <a:r>
              <a:t>  Grove Finance routes Sky's $1B allocation through Centrifuge V3 into JAAA and ACRDX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COMPLIANCE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383280" cy="3200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Calibri"/>
              </a:defRPr>
            </a:pPr>
            <a:r>
              <a:t>LAYER 1: Entity-Level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SPV / Segregated Portfolio Company (Cayman Islands preferred)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Section 3(c)(7) fund exemption for qualified purchasers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Vault smart contract address KYC'd by each RWA issuer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Institutional-grade custody (Anchorage, BitGo, Fireblocks)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383280" cy="3200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28E"/>
                </a:solidFill>
                <a:latin typeface="Calibri"/>
              </a:defRPr>
            </a:pPr>
            <a:r>
              <a:t>LAYER 2: Investor-Level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KYC/AML verification via Sumsub or Chainlink ACE (CCID)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Accredited / Qualified Purchaser attestation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Whitelist enforcement at DepositManager entry point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Transfer-restricted vault shares (onlyPrivileged modifier)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383280" cy="3200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LAYER 3: On-Chain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ERC-1404: detectTransferRestriction() check before transfers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ERC-3643 (T-REX): Vault address registered in Identity Registry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Chainlink ACE: Cross-chain identity (CCID) + policy verification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Non-transferable aTokens in Horizon maintain permissioning integrity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SUPERLOOP'S EXISTING COMPLIANCE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privilegedAddresses mapping: Already restricts share transfers to whitelisted addresses (SuperloopVault.sol:330)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onlyPrivileged modifier: Controls transfer() and transferFrom() on vault shares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DepositManager: Natural entry point for KYC gating (add onlyCompliant check to requestDeposit)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EXACT INTEGRATIONS REQUIRED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28E"/>
                </a:solidFill>
                <a:latin typeface="Calibri"/>
              </a:defRPr>
            </a:pPr>
            <a:r>
              <a:t>ZERO CODE CHANGES (Deploy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AaveV3SupplyModule  -&gt;  new instance with HORIZON_POOL_ADDRESSES_PROVIDER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934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AaveV3BorrowModule  -&gt;  new instance with HORIZON_POOL_ADDRESSES_PROVIDER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AaveV3RepayModule   -&gt;  new instance with HORIZON_POOL_ADDRESSES_PROVIDER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AaveV3WithdrawModule -&gt;  new instance with HORIZON_POOL_ADDRESSES_PROVIDER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AaveV3EmodeModule   -&gt;  new instance with HORIZON_POOL_ADDRESSES_PROVIDER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AaveV3FlashloanModule -&gt;  new instance (if Horizon supports flashLoanSimple for stablecoins)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980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AaveV3AccountantPlugin -&gt; new instance with Horizon PoolAddressesProvider + RWA lend/borrow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NEW MODULES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930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CentrifugeSupplyModule  -&gt;  ERC-7540 requestDeposit/claimDeposit/requestRedeem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RWAComplianceGate       -&gt;  KYC verification, investor tier checks, Chainlink ACE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684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NAVOracleAdapter        -&gt;  Chainlink NAVLink price feed integration for RWA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CentrifugeAccountantPlugin -&gt; Track pending/claimable positions + epoch-based NAV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439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GroveRouterModule       -&gt;  Capital routing through Grove/Sky allocation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18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60FF"/>
                </a:solidFill>
                <a:latin typeface="Calibri"/>
              </a:defRPr>
            </a:pPr>
            <a:r>
              <a:t>INFRASTRUCTURE &amp;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Keeper/Operator Bot     -&gt;  Monitor rates, auto-deleverage, epoch claims, health factor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766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Legal Entity (SPV)      -&gt;  Required for each RWA issuer whitelisting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144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KYC Provider Integration -&gt;  Sumsub, Coinbase Verifications, or Chainlink CCID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521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0A8"/>
                </a:solidFill>
                <a:latin typeface="Calibri"/>
              </a:defRPr>
            </a:pPr>
            <a:r>
              <a:t>Risk Parameter Engine   -&gt;  Chaos Labs / LlamaRisk integration for dynamic LTV/rate adjustment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EXECUTION FLOW: SINGLE-TX RWA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8"/>
                </a:solidFill>
                <a:latin typeface="Calibri"/>
              </a:defRPr>
            </a:pPr>
            <a:r>
              <a:t>Based on proven EthenaLoopTest pattern in production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3840480"/>
          </a:xfrm>
          <a:prstGeom prst="roundRect">
            <a:avLst/>
          </a:prstGeom>
          <a:solidFill>
            <a:srgbClr val="121420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28E"/>
                </a:solidFill>
                <a:latin typeface="Calibri"/>
              </a:defRPr>
            </a:pPr>
            <a:r>
              <a:t>// Operator calls: superloop.operate(finalExecutionData)</a:t>
            </a:r>
            <a:br/>
            <a:br/>
            <a:r>
              <a:t>Step 1: resolveDepositRequests(USDC, depositAmount, callback=[</a:t>
            </a:r>
            <a:br/>
            <a:r>
              <a:t>  Step 2: morphoFlashLoan(USTB, flashAmount, callback=[</a:t>
            </a:r>
            <a:br/>
            <a:r>
              <a:t>    Step 3: aaveV3Supply(USTB, type(uint256).max)     // Supply all USTB to Horizon</a:t>
            </a:r>
            <a:br/>
            <a:r>
              <a:t>    Step 4: aaveV3Borrow(USDC, borrowAmount)          // Borrow USDC against USTB collateral</a:t>
            </a:r>
            <a:br/>
            <a:r>
              <a:t>    Step 5: dexSwap(USDC -&gt; USTB, borrowAmount)       // Swap borrowed USDC to more USTB</a:t>
            </a:r>
            <a:br/>
            <a:r>
              <a:t>    Step 6: aaveV3Supply(USTB, type(uint256).max)     // Re-supply new USTB (loop iteration)</a:t>
            </a:r>
            <a:br/>
            <a:r>
              <a:t>    Step 7: aaveV3Borrow(USDC, repayAmount)           // Borrow to repay flash loan</a:t>
            </a:r>
            <a:br/>
            <a:r>
              <a:t>    // Flash loan callback auto-approves repayment</a:t>
            </a:r>
            <a:br/>
            <a:r>
              <a:t>  ])</a:t>
            </a:r>
            <a:br/>
            <a:r>
              <a:t>])</a:t>
            </a:r>
            <a:br/>
            <a:br/>
            <a:r>
              <a:t>// Result: Vault holds 4-5x leveraged USTB position on Horizon</a:t>
            </a:r>
            <a:br/>
            <a:r>
              <a:t>// AccountantPlugin reads: aToken balance (USTB) - variableDebt (USDC) = net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Atomic execution: all steps succeed or all revert. No partial state. No multi-block risk.</a:t>
            </a:r>
            <a:br/>
            <a:r>
              <a:t>Proven pattern: EthenaLoopTest (test/core/integration/EthenaLoop.t.sol) demonstrates this exact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Liquidation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28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Conservative LTV (60-70%). Treasuries have near-zero volatility.</a:t>
            </a:r>
            <a:br/>
            <a:r>
              <a:t>Auto-deleverage triggers at health factor 1.5.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Borrow Rate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Dynamic monitoring. Auto-deleverage when spread &lt; 50bps.</a:t>
            </a:r>
            <a:br/>
            <a:r>
              <a:t>Multiple stablecoin sources (USDC, GHO, RLUSD).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Oracle Staleness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28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Chainlink NAVLink with price bounds validation.</a:t>
            </a:r>
            <a:br/>
            <a:r>
              <a:t>DON rejects out-of-band NAV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9748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28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Battle-tested Aave V3.3 (audited + formally verified).</a:t>
            </a:r>
            <a:br/>
            <a:r>
              <a:t>Superloop modules are minimal surface area.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Redemption 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Cash reserve buffer (configurable BPS).</a:t>
            </a:r>
            <a:br/>
            <a:r>
              <a:t>Multi-queue WithdrawManager: instant, priority, deferred.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38912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SPV legal structure. Jurisdictional optionality.</a:t>
            </a:r>
            <a:br/>
            <a:r>
              <a:t>Compliance at token + vault + investor levels.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SUPPORTED ASSETS &amp; PARTNERS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0584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Underlying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Yield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USTB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Superstate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Govt Securities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Aave Horizon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~4.5%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USCC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Superstate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Crypto Carry Fund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Aave Horizon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~5-8%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JTRSY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Centrifuge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Janus Henderson Treasuries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Aave Horizon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~4.5%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JAAA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Centrifuge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Janus Henderson AAA CLOs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Aave Horizon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~5-7%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USYC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Hashnote/Circle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Int'l Short Duration Yield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Aave Horizon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~4.5%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VBILL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VanEck/Securitize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VanEck Treasury Fund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Aave Horizon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~4.5%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BUIDL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BlackRock/Securitize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Treasury Money Market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  <a:latin typeface="Calibri"/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~4.5%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Borrowable Stablecoins: USDC (Circle) | GHO (Aave DAO, ~$312M cap) | RLUSD (Ripple)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A0A0A8"/>
                </a:solidFill>
                <a:latin typeface="Calibri"/>
              </a:defRPr>
            </a:pPr>
            <a:r>
              <a:t>  Pipeline Partners: Franklin Templeton | WisdomTree | Ethena | OpenEden | Ant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COMPETITIVE POSITIONING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657600"/>
                <a:gridCol w="4754880"/>
              </a:tblGrid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They Do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Superloop Advantage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Gauntlet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Curated levered RWA vaults on Morpho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Gauntlet is a vault manager, not infra.</a:t>
                      </a:r>
                    </a:p>
                    <a:p>
                      <a:r>
                        <a:t>Superloop is the vault rails they could build on.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 Finance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Defensive Looping vaults (PayFi)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Narrow focus (PST tokens only).</a:t>
                      </a:r>
                    </a:p>
                    <a:p>
                      <a:r>
                        <a:t>Superloop is multi-RWA, multi-protocol.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Sommelier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strategy vaults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Cosmos bridge dependency.</a:t>
                      </a:r>
                    </a:p>
                    <a:p>
                      <a:r>
                        <a:t>Superloop is native EVM, no bridge risk.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Morpho Vaults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Permissionless lending markets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Morpho is a lending primitive.</a:t>
                      </a:r>
                    </a:p>
                    <a:p>
                      <a:r>
                        <a:t>Superloop composes Morpho + Aave + Centrifuge.</a:t>
                      </a:r>
                    </a:p>
                  </a:txBody>
                  <a:tcPr>
                    <a:solidFill>
                      <a:srgbClr val="1517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Summer.fi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Frontend for leveraged positions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Frontend only, no vault abstraction.</a:t>
                      </a:r>
                    </a:p>
                    <a:p>
                      <a:r>
                        <a:t>No compliance. No managed strategies.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Superloop's moat: Not another lending market or frontend. We're the institutional vault infrastructure layer that sits ABOVE Aave Horizon, Centrifuge, Morpho, and Grove -- composing them into managed, compliant, leveraged RWA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38328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Performance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10-20% of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Share dilution on profit (already implemented in SuperloopVault)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38328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28E"/>
                </a:solidFill>
                <a:latin typeface="Calibri"/>
              </a:defRPr>
            </a:pPr>
            <a:r>
              <a:t>Management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0.5-2% annually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AUM-based via exchange rate adjustment in accountant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38328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Instant Withdraw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0.1-0.5%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Premium for skipping withdrawal queue (already implemented)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EXAMPLE: $100M TVL, 10% Leveraged APR, 15% Performance Fee, 1% Management Fee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1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Gross Yield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$10M / year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3749039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19" y="38861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Performance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19" y="4160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$1.5M /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19" y="46177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15% of yield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749039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39" y="38861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Management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4160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$1.0M /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39" y="46177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1% of AUM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749039"/>
            <a:ext cx="256032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8861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8"/>
                </a:solidFill>
                <a:latin typeface="Calibri"/>
              </a:defRPr>
            </a:pPr>
            <a:r>
              <a:t>Total Protocol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160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$2.5M 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6177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8"/>
                </a:solidFill>
                <a:latin typeface="Calibri"/>
              </a:defRPr>
            </a:pPr>
            <a:r>
              <a:t>Per $100M TVL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8"/>
                </a:solidFill>
                <a:latin typeface="Calibri"/>
              </a:defRPr>
            </a:pPr>
            <a:r>
              <a:t>Scaling path: $500M TVL = ~$12.5M annual revenue. $1B TVL = ~$25M annual revenue.</a:t>
            </a:r>
            <a:br/>
            <a:r>
              <a:t>Revenue scales linearly with TVL. Multiple vault strategies multiply the opportunity.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383280" cy="5029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PHASE 1: Horizon Loop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8"/>
                </a:solidFill>
                <a:latin typeface="Calibri"/>
              </a:defRPr>
            </a:pPr>
            <a:r>
              <a:t>Weeks 1-6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Deploy Aave V3 modules with Horizon PoolAddressesProvider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Build + test RWA loop execution (adapt EthenaLoopTest)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Integrate Chainlink NAVLink oracle adapter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Legal entity setup + KYC vault with Superstate (USTB)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RWAComplianceGate contract for investor verification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Security audit + testnet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5029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097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28E"/>
                </a:solidFill>
                <a:latin typeface="Calibri"/>
              </a:defRPr>
            </a:pPr>
            <a:r>
              <a:t>PHASE 2: Centrifuge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8"/>
                </a:solidFill>
                <a:latin typeface="Calibri"/>
              </a:defRPr>
            </a:pPr>
            <a:r>
              <a:t>Weeks 7-12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Build CentrifugeSupplyModule (ERC-7540 async)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Keeper bot for epoch monitoring + auto-claim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Combined strategy: Centrifuge tranche tokens -&gt; Horizon -&gt; leverage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KYC vault with Centrifuge (JAAA, JTRSY issuers)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Multi-RWA vault support (diversified positions)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Mainnet launch with institutional partners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05840"/>
            <a:ext cx="3383280" cy="5029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PHASE 3: Scale &amp; 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8"/>
                </a:solidFill>
                <a:latin typeface="Calibri"/>
              </a:defRPr>
            </a:pPr>
            <a:r>
              <a:t>Weeks 13-20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Grove partnership for Sky $1B capital allocation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Multi-RWA diversified vaults (USTB + JAAA + ACRDX)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Senior/Junior tranche vaults for risk stratification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Cross-chain RWA vaults (Base, Arbitrum) via Centrifuge V3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Chainlink ACE (CCID) for cross-chain compliance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A0A0A8"/>
                </a:solidFill>
                <a:latin typeface="Calibri"/>
              </a:defRPr>
            </a:pPr>
            <a:r>
              <a:t>  Morpho RWA market integration for additional lending venues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WHY WHITELIST SUPERLOOP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8"/>
                </a:solidFill>
                <a:latin typeface="Calibri"/>
              </a:defRPr>
            </a:pPr>
            <a:r>
              <a:t>For RWA Issuers: What Superloop Brings to Your Token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Demand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Superloop vaults create SUSTAINED demand for your RWA tokens. Leveraged strategies consume 3-5x more tokens per dollar of user deposits. At $100M vault TVL, we buy $300-500M of your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28E"/>
                </a:solidFill>
                <a:latin typeface="Calibri"/>
              </a:defRPr>
            </a:pPr>
            <a:r>
              <a:t>Non-Custodial &amp; Transparent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All positions are on-chain, auditable in real-time. Smart contracts execute deterministically. We cannot move funds. Aave V3 is battle-tested with $30B+ historical TVL.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2120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Compliance-First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Our vault contract completes your KYC/AML requirements. We enforce investor qualification at deposit entry. Vault shares are transfer-restricted. Compatible with ERC-1404, ERC-3643, Chainlink 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212080" cy="18288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E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60FF"/>
                </a:solidFill>
                <a:latin typeface="Calibri"/>
              </a:defRPr>
            </a:pPr>
            <a:r>
              <a:t>Institutional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8"/>
                </a:solidFill>
                <a:latin typeface="Calibri"/>
              </a:defRPr>
            </a:pPr>
            <a:r>
              <a:t>Superloop serves as a distribution channel for your RWA tokens to qualified purchasers. Single KYC relationship (vault entity) unlocks access for all verified vault depositors.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Ask: Whitelist the Superloop vault contract address as a qualified purchaser for your RWA token.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7AFF"/>
                </a:solidFill>
                <a:latin typeface="Calibri"/>
              </a:defRPr>
            </a:pPr>
            <a:r>
              <a:t>SUPERLOOP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Building the Institutional RWA Yield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3657600" cy="2743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70%+ of infrastructure already built and production-tested</a:t>
            </a:r>
          </a:p>
          <a:p>
            <a:pPr algn="l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Aave Horizon integration requires zero code changes -- deploy only</a:t>
            </a:r>
          </a:p>
          <a:p>
            <a:pPr algn="l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$35B+ addressable RWA market growing 300%+ YoY</a:t>
            </a:r>
          </a:p>
          <a:p>
            <a:pPr algn="l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9-13% APR target on Treasury-backed collateral at 3-4x leverage</a:t>
            </a:r>
          </a:p>
          <a:p>
            <a:pPr algn="l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Compliance-first: KYC gating, transfer restrictions, institutional legal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8"/>
                </a:solidFill>
                <a:latin typeface="Calibri"/>
              </a:defRPr>
            </a:pPr>
            <a:r>
              <a:t>Superlend  |  superloop-core-contracts  |  February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8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